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/>
    <p:restoredTop sz="94626"/>
  </p:normalViewPr>
  <p:slideViewPr>
    <p:cSldViewPr snapToGrid="0" snapToObjects="1">
      <p:cViewPr varScale="1">
        <p:scale>
          <a:sx n="66" d="100"/>
          <a:sy n="66" d="100"/>
        </p:scale>
        <p:origin x="52" y="2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3" d="100"/>
          <a:sy n="123" d="100"/>
        </p:scale>
        <p:origin x="-2816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F3E31-9781-B24F-87A9-F98653FBF46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F4F8C-1785-AC43-97F9-C9301BD93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7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50053AB-45AA-434D-8BDE-5525BA81273B}"/>
              </a:ext>
            </a:extLst>
          </p:cNvPr>
          <p:cNvSpPr/>
          <p:nvPr userDrawn="1"/>
        </p:nvSpPr>
        <p:spPr>
          <a:xfrm>
            <a:off x="264459" y="207095"/>
            <a:ext cx="11663082" cy="6443810"/>
          </a:xfrm>
          <a:prstGeom prst="rect">
            <a:avLst/>
          </a:prstGeom>
          <a:gradFill>
            <a:gsLst>
              <a:gs pos="5000">
                <a:srgbClr val="370000"/>
              </a:gs>
              <a:gs pos="76000">
                <a:srgbClr val="500000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64459" y="2705301"/>
            <a:ext cx="118872" cy="1371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11808669" y="2705301"/>
            <a:ext cx="118872" cy="1371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rmAutofit/>
          </a:bodyPr>
          <a:lstStyle>
            <a:lvl1pPr>
              <a:defRPr sz="42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235390"/>
            <a:ext cx="8534400" cy="1189892"/>
          </a:xfrm>
        </p:spPr>
        <p:txBody>
          <a:bodyPr>
            <a:normAutofit/>
          </a:bodyPr>
          <a:lstStyle>
            <a:lvl1pPr marL="0" indent="0" algn="ctr">
              <a:buNone/>
              <a:defRPr sz="280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DDADF1-3876-B472-37DD-30227B1DB0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50186" y="687621"/>
            <a:ext cx="4891628" cy="1666172"/>
          </a:xfrm>
          <a:prstGeom prst="rect">
            <a:avLst/>
          </a:prstGeom>
        </p:spPr>
      </p:pic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1CABBF1-EF02-956A-E632-BD4AF7F50B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3147" y="5516949"/>
            <a:ext cx="3925705" cy="77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6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225911"/>
            <a:ext cx="7687733" cy="925157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78844"/>
            <a:ext cx="10972799" cy="464732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527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069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54767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94022"/>
            <a:ext cx="5384800" cy="38321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94022"/>
            <a:ext cx="5384800" cy="38321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955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66704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307098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46861"/>
            <a:ext cx="5386917" cy="3179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2307098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2946861"/>
            <a:ext cx="5389033" cy="3179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057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2FEA8E-65A3-2E01-FE9D-782B71A30A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6562" y="208037"/>
            <a:ext cx="11672125" cy="6441926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1060470" y="2093434"/>
            <a:ext cx="10071060" cy="2671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1060470" y="2742924"/>
            <a:ext cx="128016" cy="1371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11003514" y="2758222"/>
            <a:ext cx="128016" cy="1371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616" y="2872522"/>
            <a:ext cx="9192768" cy="1143000"/>
          </a:xfrm>
        </p:spPr>
        <p:txBody>
          <a:bodyPr>
            <a:normAutofit/>
          </a:bodyPr>
          <a:lstStyle>
            <a:lvl1pPr>
              <a:defRPr sz="3400" b="1">
                <a:solidFill>
                  <a:srgbClr val="5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2E9366-A0A7-7C41-B78D-38974B06FA71}"/>
              </a:ext>
            </a:extLst>
          </p:cNvPr>
          <p:cNvSpPr/>
          <p:nvPr userDrawn="1"/>
        </p:nvSpPr>
        <p:spPr>
          <a:xfrm>
            <a:off x="4774095" y="1543595"/>
            <a:ext cx="2643809" cy="966677"/>
          </a:xfrm>
          <a:prstGeom prst="rect">
            <a:avLst/>
          </a:prstGeom>
          <a:gradFill>
            <a:gsLst>
              <a:gs pos="5000">
                <a:srgbClr val="370000"/>
              </a:gs>
              <a:gs pos="76000">
                <a:srgbClr val="500000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C7D7F-7CE6-9C06-E32D-1DCB3DC744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93256" y="1659666"/>
            <a:ext cx="2205487" cy="7512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49DF0C-13A7-110E-F292-3AB88604D0C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13028" y="453966"/>
            <a:ext cx="3705597" cy="78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2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1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1" y="1171075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71075"/>
            <a:ext cx="6815667" cy="495509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1" y="2406317"/>
            <a:ext cx="4011084" cy="37198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706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06905"/>
            <a:ext cx="7315200" cy="36206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3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55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979834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22834"/>
            <a:ext cx="10972800" cy="4003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C93FCB-6043-4F4A-A8E8-21CEBBD92A4B}"/>
              </a:ext>
            </a:extLst>
          </p:cNvPr>
          <p:cNvSpPr/>
          <p:nvPr userDrawn="1"/>
        </p:nvSpPr>
        <p:spPr>
          <a:xfrm>
            <a:off x="383821" y="231832"/>
            <a:ext cx="11424356" cy="926298"/>
          </a:xfrm>
          <a:prstGeom prst="rect">
            <a:avLst/>
          </a:prstGeom>
          <a:gradFill>
            <a:gsLst>
              <a:gs pos="5000">
                <a:srgbClr val="370000"/>
              </a:gs>
              <a:gs pos="76000">
                <a:srgbClr val="500000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6C32FB-EF9A-D445-9E70-345AD40836F8}"/>
              </a:ext>
            </a:extLst>
          </p:cNvPr>
          <p:cNvSpPr/>
          <p:nvPr userDrawn="1"/>
        </p:nvSpPr>
        <p:spPr>
          <a:xfrm>
            <a:off x="383823" y="403780"/>
            <a:ext cx="120848" cy="582402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D9DA6-80FC-86A3-7FE5-2D9D3E890764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821" y="6025930"/>
            <a:ext cx="2786324" cy="592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98537F-3317-169C-6621-365CC4ECD3D0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54654" y="342411"/>
            <a:ext cx="2088087" cy="71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66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Iteration 2 summary +</a:t>
            </a:r>
            <a:br>
              <a:rPr lang="en-US" dirty="0"/>
            </a:br>
            <a:r>
              <a:rPr lang="en-US" dirty="0"/>
              <a:t> Iteration 3 suggestions</a:t>
            </a:r>
          </a:p>
        </p:txBody>
      </p:sp>
    </p:spTree>
    <p:extLst>
      <p:ext uri="{BB962C8B-B14F-4D97-AF65-F5344CB8AC3E}">
        <p14:creationId xmlns:p14="http://schemas.microsoft.com/office/powerpoint/2010/main" val="135469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BB1F28-124F-B3A7-2D42-3BC3A943D17E}"/>
              </a:ext>
            </a:extLst>
          </p:cNvPr>
          <p:cNvSpPr txBox="1"/>
          <p:nvPr/>
        </p:nvSpPr>
        <p:spPr>
          <a:xfrm>
            <a:off x="364503" y="1316798"/>
            <a:ext cx="11462994" cy="24929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2 objectives to be maximized and 1 objective to be minimized.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1000 GPs created to map 7D composition space to the objective space.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Search space size: 13518 (6658 in iteration 2).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116 unique suggestions are obtained (139 in iteration 2).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No enthalpy measurements for 6 alloys.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No transformation strain measurements for 15 alloys.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Total of 22 out of 58 are excluded. (9 + 13)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31CF99DA-5B55-8D13-8CB7-2A5F229B9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808606"/>
              </p:ext>
            </p:extLst>
          </p:nvPr>
        </p:nvGraphicFramePr>
        <p:xfrm>
          <a:off x="1577286" y="4159416"/>
          <a:ext cx="4184759" cy="1638272"/>
        </p:xfrm>
        <a:graphic>
          <a:graphicData uri="http://schemas.openxmlformats.org/drawingml/2006/table">
            <a:tbl>
              <a:tblPr firstRow="1" bandRow="1"/>
              <a:tblGrid>
                <a:gridCol w="1229138">
                  <a:extLst>
                    <a:ext uri="{9D8B030D-6E8A-4147-A177-3AD203B41FA5}">
                      <a16:colId xmlns:a16="http://schemas.microsoft.com/office/drawing/2014/main" val="1712704291"/>
                    </a:ext>
                  </a:extLst>
                </a:gridCol>
                <a:gridCol w="1371986">
                  <a:extLst>
                    <a:ext uri="{9D8B030D-6E8A-4147-A177-3AD203B41FA5}">
                      <a16:colId xmlns:a16="http://schemas.microsoft.com/office/drawing/2014/main" val="3811734954"/>
                    </a:ext>
                  </a:extLst>
                </a:gridCol>
                <a:gridCol w="1583635">
                  <a:extLst>
                    <a:ext uri="{9D8B030D-6E8A-4147-A177-3AD203B41FA5}">
                      <a16:colId xmlns:a16="http://schemas.microsoft.com/office/drawing/2014/main" val="2685638095"/>
                    </a:ext>
                  </a:extLst>
                </a:gridCol>
              </a:tblGrid>
              <a:tr h="544816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400" b="1" dirty="0"/>
                        <a:t>Iteration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CF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400" b="1" dirty="0"/>
                        <a:t>HV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CF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400" b="1" dirty="0"/>
                        <a:t>Pareto front size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CF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771478"/>
                  </a:ext>
                </a:extLst>
              </a:tr>
              <a:tr h="544816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400" b="1" u="sng" dirty="0"/>
                        <a:t>1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800" dirty="0"/>
                        <a:t>1659.7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146377"/>
                  </a:ext>
                </a:extLst>
              </a:tr>
              <a:tr h="544816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400" b="1" u="sng" dirty="0"/>
                        <a:t>2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800" dirty="0"/>
                        <a:t>1686.0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745500"/>
                  </a:ext>
                </a:extLst>
              </a:tr>
            </a:tbl>
          </a:graphicData>
        </a:graphic>
      </p:graphicFrame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32CBE6A-A251-9A21-B0A8-7312BF2CC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119480"/>
              </p:ext>
            </p:extLst>
          </p:nvPr>
        </p:nvGraphicFramePr>
        <p:xfrm>
          <a:off x="6609844" y="2365218"/>
          <a:ext cx="5217652" cy="4362352"/>
        </p:xfrm>
        <a:graphic>
          <a:graphicData uri="http://schemas.openxmlformats.org/drawingml/2006/table">
            <a:tbl>
              <a:tblPr firstRow="1" bandRow="1"/>
              <a:tblGrid>
                <a:gridCol w="1184511">
                  <a:extLst>
                    <a:ext uri="{9D8B030D-6E8A-4147-A177-3AD203B41FA5}">
                      <a16:colId xmlns:a16="http://schemas.microsoft.com/office/drawing/2014/main" val="1712704291"/>
                    </a:ext>
                  </a:extLst>
                </a:gridCol>
                <a:gridCol w="1309657">
                  <a:extLst>
                    <a:ext uri="{9D8B030D-6E8A-4147-A177-3AD203B41FA5}">
                      <a16:colId xmlns:a16="http://schemas.microsoft.com/office/drawing/2014/main" val="3811734954"/>
                    </a:ext>
                  </a:extLst>
                </a:gridCol>
                <a:gridCol w="1743660">
                  <a:extLst>
                    <a:ext uri="{9D8B030D-6E8A-4147-A177-3AD203B41FA5}">
                      <a16:colId xmlns:a16="http://schemas.microsoft.com/office/drawing/2014/main" val="2685638095"/>
                    </a:ext>
                  </a:extLst>
                </a:gridCol>
                <a:gridCol w="979824">
                  <a:extLst>
                    <a:ext uri="{9D8B030D-6E8A-4147-A177-3AD203B41FA5}">
                      <a16:colId xmlns:a16="http://schemas.microsoft.com/office/drawing/2014/main" val="3656813729"/>
                    </a:ext>
                  </a:extLst>
                </a:gridCol>
              </a:tblGrid>
              <a:tr h="544816"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Current Pareto Front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3032"/>
                  </a:ext>
                </a:extLst>
              </a:tr>
              <a:tr h="544816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400" b="1" dirty="0"/>
                        <a:t>Hysteresis (min)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400" b="1" dirty="0"/>
                        <a:t>Enthalpy (max)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400" b="1" dirty="0"/>
                        <a:t>Transformation Strain (max)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+mn-cs"/>
                        </a:rPr>
                        <a:t>MS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771478"/>
                  </a:ext>
                </a:extLst>
              </a:tr>
              <a:tr h="544816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20.61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27.95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12.98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250.5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146377"/>
                  </a:ext>
                </a:extLst>
              </a:tr>
              <a:tr h="544816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50.51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13.19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13.08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108.1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745500"/>
                  </a:ext>
                </a:extLst>
              </a:tr>
              <a:tr h="544816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48.73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32.29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12.18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349.0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083822"/>
                  </a:ext>
                </a:extLst>
              </a:tr>
              <a:tr h="544816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46.07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29.75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11.16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299.7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306035"/>
                  </a:ext>
                </a:extLst>
              </a:tr>
              <a:tr h="544816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32.26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29.13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12.49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286.7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67C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422529"/>
                  </a:ext>
                </a:extLst>
              </a:tr>
              <a:tr h="544816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18.1</a:t>
                      </a:r>
                    </a:p>
                  </a:txBody>
                  <a:tcPr marL="121920" marR="121920" marT="60960" marB="6096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21.17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10.79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178.8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803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11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360DE-CFD2-4746-4994-BE49E478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AF77-82EC-7244-D519-CC6751F61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(experimental results)</a:t>
            </a:r>
          </a:p>
        </p:txBody>
      </p:sp>
      <p:pic>
        <p:nvPicPr>
          <p:cNvPr id="4" name="Picture 3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0B443E2C-17CE-3EA2-A736-46D525F06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299"/>
            <a:ext cx="4030534" cy="3142648"/>
          </a:xfrm>
          <a:prstGeom prst="rect">
            <a:avLst/>
          </a:prstGeom>
        </p:spPr>
      </p:pic>
      <p:pic>
        <p:nvPicPr>
          <p:cNvPr id="9" name="Picture 8" descr="A diagram of a transformation strain&#10;&#10;Description automatically generated">
            <a:extLst>
              <a:ext uri="{FF2B5EF4-FFF2-40B4-BE49-F238E27FC236}">
                <a16:creationId xmlns:a16="http://schemas.microsoft.com/office/drawing/2014/main" id="{DD2B2822-58FB-A7E3-24C6-2FF6C9857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534" y="1790298"/>
            <a:ext cx="4030536" cy="3142649"/>
          </a:xfrm>
          <a:prstGeom prst="rect">
            <a:avLst/>
          </a:prstGeom>
        </p:spPr>
      </p:pic>
      <p:pic>
        <p:nvPicPr>
          <p:cNvPr id="11" name="Picture 10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1B784CAB-9CEE-E5C5-2958-95CD4B63D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01" y="1782303"/>
            <a:ext cx="4127203" cy="3218022"/>
          </a:xfrm>
          <a:prstGeom prst="rect">
            <a:avLst/>
          </a:prstGeom>
        </p:spPr>
      </p:pic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C98B30C0-84FB-457B-A929-BA4C31D4F6B7}"/>
              </a:ext>
            </a:extLst>
          </p:cNvPr>
          <p:cNvSpPr/>
          <p:nvPr/>
        </p:nvSpPr>
        <p:spPr>
          <a:xfrm>
            <a:off x="172837" y="1782303"/>
            <a:ext cx="616226" cy="463826"/>
          </a:xfrm>
          <a:prstGeom prst="star5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4D6AFECE-9FC2-B10F-DDAD-94B065F0909F}"/>
              </a:ext>
            </a:extLst>
          </p:cNvPr>
          <p:cNvSpPr/>
          <p:nvPr/>
        </p:nvSpPr>
        <p:spPr>
          <a:xfrm>
            <a:off x="7348175" y="1791668"/>
            <a:ext cx="616226" cy="463826"/>
          </a:xfrm>
          <a:prstGeom prst="star5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74A8A29D-D59B-F459-7C89-50AFFA9CC4B9}"/>
              </a:ext>
            </a:extLst>
          </p:cNvPr>
          <p:cNvSpPr/>
          <p:nvPr/>
        </p:nvSpPr>
        <p:spPr>
          <a:xfrm>
            <a:off x="11378711" y="4316207"/>
            <a:ext cx="616226" cy="463826"/>
          </a:xfrm>
          <a:prstGeom prst="star5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68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C6E7-8255-366C-9173-50B06348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70A5-5EA0-72EB-DD48-2302DB39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(ML model predictions)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7EF0E-CF81-DDDA-611A-2D1CFCEEA3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790299"/>
            <a:ext cx="4030533" cy="31426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248E14-2116-0285-0BDD-8193578324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30534" y="1790298"/>
            <a:ext cx="4030535" cy="31426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ADB339-CDBE-7553-3B82-3438401716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64401" y="1782303"/>
            <a:ext cx="4127203" cy="3218021"/>
          </a:xfrm>
          <a:prstGeom prst="rect">
            <a:avLst/>
          </a:prstGeom>
        </p:spPr>
      </p:pic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42A1FD84-6CEE-42B3-FFBA-5F718629F0C5}"/>
              </a:ext>
            </a:extLst>
          </p:cNvPr>
          <p:cNvSpPr/>
          <p:nvPr/>
        </p:nvSpPr>
        <p:spPr>
          <a:xfrm>
            <a:off x="172837" y="1782303"/>
            <a:ext cx="616226" cy="463826"/>
          </a:xfrm>
          <a:prstGeom prst="star5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F71FBEAC-7E07-C5BF-3F53-AC3E04DB0515}"/>
              </a:ext>
            </a:extLst>
          </p:cNvPr>
          <p:cNvSpPr/>
          <p:nvPr/>
        </p:nvSpPr>
        <p:spPr>
          <a:xfrm>
            <a:off x="7348175" y="1791668"/>
            <a:ext cx="616226" cy="463826"/>
          </a:xfrm>
          <a:prstGeom prst="star5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593698FD-1839-B530-A85A-0ED0F3A1DA7F}"/>
              </a:ext>
            </a:extLst>
          </p:cNvPr>
          <p:cNvSpPr/>
          <p:nvPr/>
        </p:nvSpPr>
        <p:spPr>
          <a:xfrm>
            <a:off x="11378711" y="4316207"/>
            <a:ext cx="616226" cy="463826"/>
          </a:xfrm>
          <a:prstGeom prst="star5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56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4845-2C02-0E2A-17E0-719DAA19C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17307-CC13-6DDB-7AE4-F70AA3D19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3 Suggestions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FE347F-8735-67FB-13F5-D1076937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33148"/>
              </p:ext>
            </p:extLst>
          </p:nvPr>
        </p:nvGraphicFramePr>
        <p:xfrm>
          <a:off x="198729" y="1417758"/>
          <a:ext cx="5634119" cy="4426132"/>
        </p:xfrm>
        <a:graphic>
          <a:graphicData uri="http://schemas.openxmlformats.org/drawingml/2006/table">
            <a:tbl>
              <a:tblPr/>
              <a:tblGrid>
                <a:gridCol w="947681">
                  <a:extLst>
                    <a:ext uri="{9D8B030D-6E8A-4147-A177-3AD203B41FA5}">
                      <a16:colId xmlns:a16="http://schemas.microsoft.com/office/drawing/2014/main" val="856611069"/>
                    </a:ext>
                  </a:extLst>
                </a:gridCol>
                <a:gridCol w="588231">
                  <a:extLst>
                    <a:ext uri="{9D8B030D-6E8A-4147-A177-3AD203B41FA5}">
                      <a16:colId xmlns:a16="http://schemas.microsoft.com/office/drawing/2014/main" val="2636380343"/>
                    </a:ext>
                  </a:extLst>
                </a:gridCol>
                <a:gridCol w="650270">
                  <a:extLst>
                    <a:ext uri="{9D8B030D-6E8A-4147-A177-3AD203B41FA5}">
                      <a16:colId xmlns:a16="http://schemas.microsoft.com/office/drawing/2014/main" val="2150995672"/>
                    </a:ext>
                  </a:extLst>
                </a:gridCol>
                <a:gridCol w="710758">
                  <a:extLst>
                    <a:ext uri="{9D8B030D-6E8A-4147-A177-3AD203B41FA5}">
                      <a16:colId xmlns:a16="http://schemas.microsoft.com/office/drawing/2014/main" val="4036267069"/>
                    </a:ext>
                  </a:extLst>
                </a:gridCol>
                <a:gridCol w="710758">
                  <a:extLst>
                    <a:ext uri="{9D8B030D-6E8A-4147-A177-3AD203B41FA5}">
                      <a16:colId xmlns:a16="http://schemas.microsoft.com/office/drawing/2014/main" val="2635419457"/>
                    </a:ext>
                  </a:extLst>
                </a:gridCol>
                <a:gridCol w="665391">
                  <a:extLst>
                    <a:ext uri="{9D8B030D-6E8A-4147-A177-3AD203B41FA5}">
                      <a16:colId xmlns:a16="http://schemas.microsoft.com/office/drawing/2014/main" val="3148910682"/>
                    </a:ext>
                  </a:extLst>
                </a:gridCol>
                <a:gridCol w="680515">
                  <a:extLst>
                    <a:ext uri="{9D8B030D-6E8A-4147-A177-3AD203B41FA5}">
                      <a16:colId xmlns:a16="http://schemas.microsoft.com/office/drawing/2014/main" val="4184327015"/>
                    </a:ext>
                  </a:extLst>
                </a:gridCol>
                <a:gridCol w="680515">
                  <a:extLst>
                    <a:ext uri="{9D8B030D-6E8A-4147-A177-3AD203B41FA5}">
                      <a16:colId xmlns:a16="http://schemas.microsoft.com/office/drawing/2014/main" val="1920006517"/>
                    </a:ext>
                  </a:extLst>
                </a:gridCol>
              </a:tblGrid>
              <a:tr h="4230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Sample</a:t>
                      </a:r>
                    </a:p>
                  </a:txBody>
                  <a:tcPr marL="4208" marR="4208" marT="42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Zr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894015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80585"/>
                  </a:ext>
                </a:extLst>
              </a:tr>
              <a:tr h="2436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201443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089592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544113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33852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48028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443345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76178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101602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28502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863327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450466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412708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43.2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04459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384557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7559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4CC2B4-9526-FB84-C30D-4B5DD2DB0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036571"/>
              </p:ext>
            </p:extLst>
          </p:nvPr>
        </p:nvGraphicFramePr>
        <p:xfrm>
          <a:off x="6261599" y="1417758"/>
          <a:ext cx="5634119" cy="3675562"/>
        </p:xfrm>
        <a:graphic>
          <a:graphicData uri="http://schemas.openxmlformats.org/drawingml/2006/table">
            <a:tbl>
              <a:tblPr/>
              <a:tblGrid>
                <a:gridCol w="947681">
                  <a:extLst>
                    <a:ext uri="{9D8B030D-6E8A-4147-A177-3AD203B41FA5}">
                      <a16:colId xmlns:a16="http://schemas.microsoft.com/office/drawing/2014/main" val="856611069"/>
                    </a:ext>
                  </a:extLst>
                </a:gridCol>
                <a:gridCol w="588231">
                  <a:extLst>
                    <a:ext uri="{9D8B030D-6E8A-4147-A177-3AD203B41FA5}">
                      <a16:colId xmlns:a16="http://schemas.microsoft.com/office/drawing/2014/main" val="2636380343"/>
                    </a:ext>
                  </a:extLst>
                </a:gridCol>
                <a:gridCol w="650270">
                  <a:extLst>
                    <a:ext uri="{9D8B030D-6E8A-4147-A177-3AD203B41FA5}">
                      <a16:colId xmlns:a16="http://schemas.microsoft.com/office/drawing/2014/main" val="2150995672"/>
                    </a:ext>
                  </a:extLst>
                </a:gridCol>
                <a:gridCol w="710758">
                  <a:extLst>
                    <a:ext uri="{9D8B030D-6E8A-4147-A177-3AD203B41FA5}">
                      <a16:colId xmlns:a16="http://schemas.microsoft.com/office/drawing/2014/main" val="4036267069"/>
                    </a:ext>
                  </a:extLst>
                </a:gridCol>
                <a:gridCol w="710758">
                  <a:extLst>
                    <a:ext uri="{9D8B030D-6E8A-4147-A177-3AD203B41FA5}">
                      <a16:colId xmlns:a16="http://schemas.microsoft.com/office/drawing/2014/main" val="2635419457"/>
                    </a:ext>
                  </a:extLst>
                </a:gridCol>
                <a:gridCol w="665391">
                  <a:extLst>
                    <a:ext uri="{9D8B030D-6E8A-4147-A177-3AD203B41FA5}">
                      <a16:colId xmlns:a16="http://schemas.microsoft.com/office/drawing/2014/main" val="3148910682"/>
                    </a:ext>
                  </a:extLst>
                </a:gridCol>
                <a:gridCol w="680515">
                  <a:extLst>
                    <a:ext uri="{9D8B030D-6E8A-4147-A177-3AD203B41FA5}">
                      <a16:colId xmlns:a16="http://schemas.microsoft.com/office/drawing/2014/main" val="4184327015"/>
                    </a:ext>
                  </a:extLst>
                </a:gridCol>
                <a:gridCol w="680515">
                  <a:extLst>
                    <a:ext uri="{9D8B030D-6E8A-4147-A177-3AD203B41FA5}">
                      <a16:colId xmlns:a16="http://schemas.microsoft.com/office/drawing/2014/main" val="1920006517"/>
                    </a:ext>
                  </a:extLst>
                </a:gridCol>
              </a:tblGrid>
              <a:tr h="4230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Sample</a:t>
                      </a:r>
                    </a:p>
                  </a:txBody>
                  <a:tcPr marL="4208" marR="4208" marT="42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Zr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894015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80585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201443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089592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544113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33852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48028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443345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76178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101602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28502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863327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450466"/>
                  </a:ext>
                </a:extLst>
              </a:tr>
              <a:tr h="2259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0" i="0" u="none" strike="noStrike" kern="1200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412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033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400</Words>
  <Application>Microsoft Office PowerPoint</Application>
  <PresentationFormat>Widescreen</PresentationFormat>
  <Paragraphs>298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 Narrow</vt:lpstr>
      <vt:lpstr>Arial</vt:lpstr>
      <vt:lpstr>Calibri</vt:lpstr>
      <vt:lpstr>Office Theme</vt:lpstr>
      <vt:lpstr>Iteration 2 summary +  Iteration 3 suggestions</vt:lpstr>
      <vt:lpstr>Summary</vt:lpstr>
      <vt:lpstr>Summary (experimental results)</vt:lpstr>
      <vt:lpstr>Summary (ML model predictions)</vt:lpstr>
      <vt:lpstr>Iteration 3 Suggestions</vt:lpstr>
    </vt:vector>
  </TitlesOfParts>
  <Company>Texas A&amp;M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Larua Root</dc:creator>
  <cp:lastModifiedBy>Khatamsaz, Danial</cp:lastModifiedBy>
  <cp:revision>36</cp:revision>
  <dcterms:created xsi:type="dcterms:W3CDTF">2017-04-06T15:59:40Z</dcterms:created>
  <dcterms:modified xsi:type="dcterms:W3CDTF">2024-11-07T20:43:56Z</dcterms:modified>
</cp:coreProperties>
</file>